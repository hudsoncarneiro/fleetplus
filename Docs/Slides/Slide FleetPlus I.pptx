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0" r:id="rId5"/>
    <p:sldId id="261" r:id="rId6"/>
    <p:sldId id="262" r:id="rId7"/>
    <p:sldId id="270" r:id="rId8"/>
    <p:sldId id="264" r:id="rId9"/>
    <p:sldId id="265" r:id="rId10"/>
    <p:sldId id="267" r:id="rId11"/>
    <p:sldId id="268" r:id="rId12"/>
  </p:sldIdLst>
  <p:sldSz cx="10083800" cy="7562850"/>
  <p:notesSz cx="100838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75" d="100"/>
          <a:sy n="75" d="100"/>
        </p:scale>
        <p:origin x="1014" y="-5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4483"/>
            <a:ext cx="857123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FFDD00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5196"/>
            <a:ext cx="705866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FFDD00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FFDD00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FFDD00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91525" y="6901815"/>
            <a:ext cx="1247470" cy="4997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8164" y="194818"/>
            <a:ext cx="9117914" cy="671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FFDD00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1632340"/>
            <a:ext cx="9376410" cy="3958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7033450"/>
            <a:ext cx="3226816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jpe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jpe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6035" y="2103120"/>
            <a:ext cx="4947920" cy="111188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ESTÁGIO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SUPERVISIONADO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lang="pt-BR" altLang=""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13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-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2024:</a:t>
            </a:r>
            <a:endParaRPr sz="2000" dirty="0">
              <a:latin typeface="Arial" panose="020B0604020202020204"/>
              <a:cs typeface="Arial" panose="020B0604020202020204"/>
            </a:endParaRPr>
          </a:p>
          <a:p>
            <a:pPr marL="8890" algn="ctr">
              <a:lnSpc>
                <a:spcPct val="100000"/>
              </a:lnSpc>
              <a:spcBef>
                <a:spcPts val="930"/>
              </a:spcBef>
            </a:pPr>
            <a:r>
              <a:rPr sz="4000" b="1" spc="-10" dirty="0">
                <a:latin typeface="Arial" panose="020B0604020202020204"/>
                <a:cs typeface="Arial" panose="020B0604020202020204"/>
              </a:rPr>
              <a:t>Fleet</a:t>
            </a:r>
            <a:r>
              <a:rPr lang="pt-BR" sz="40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4000" b="1" spc="-10" dirty="0">
                <a:latin typeface="Arial" panose="020B0604020202020204"/>
                <a:cs typeface="Arial" panose="020B0604020202020204"/>
              </a:rPr>
              <a:t>Plus</a:t>
            </a:r>
            <a:endParaRPr sz="40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81"/>
            <a:ext cx="10079990" cy="1367155"/>
            <a:chOff x="0" y="381"/>
            <a:chExt cx="10079990" cy="1367155"/>
          </a:xfrm>
          <a:solidFill>
            <a:srgbClr val="0070C0"/>
          </a:solidFill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4191"/>
              <a:ext cx="10079990" cy="1363345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pic>
        <p:sp>
          <p:nvSpPr>
            <p:cNvPr id="6" name="object 6"/>
            <p:cNvSpPr/>
            <p:nvPr/>
          </p:nvSpPr>
          <p:spPr>
            <a:xfrm>
              <a:off x="0" y="381"/>
              <a:ext cx="10079990" cy="1289685"/>
            </a:xfrm>
            <a:custGeom>
              <a:avLst/>
              <a:gdLst/>
              <a:ahLst/>
              <a:cxnLst/>
              <a:rect l="l" t="t" r="r" b="b"/>
              <a:pathLst>
                <a:path w="10079990" h="1289685">
                  <a:moveTo>
                    <a:pt x="10079990" y="0"/>
                  </a:moveTo>
                  <a:lnTo>
                    <a:pt x="0" y="0"/>
                  </a:lnTo>
                  <a:lnTo>
                    <a:pt x="0" y="1289684"/>
                  </a:lnTo>
                  <a:lnTo>
                    <a:pt x="10079990" y="1289684"/>
                  </a:lnTo>
                  <a:lnTo>
                    <a:pt x="1007999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985" y="55626"/>
              <a:ext cx="2468880" cy="1152524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3115" rIns="0" bIns="0" rtlCol="0">
            <a:spAutoFit/>
          </a:bodyPr>
          <a:lstStyle/>
          <a:p>
            <a:pPr marL="239014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Análise</a:t>
            </a:r>
            <a:r>
              <a:rPr sz="2400" spc="-25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400" spc="-80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Desenvolvimento</a:t>
            </a:r>
            <a:r>
              <a:rPr sz="2400" spc="-55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de</a:t>
            </a:r>
            <a:r>
              <a:rPr sz="2400" spc="-80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Sistemas</a:t>
            </a:r>
            <a:r>
              <a:rPr sz="2400" spc="-110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(ADS)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3822700" y="4147078"/>
            <a:ext cx="5638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/>
              <a:t>1529 – Maria Eduarda  Humberto </a:t>
            </a:r>
            <a:r>
              <a:rPr lang="pt-BR" b="1" dirty="0" err="1"/>
              <a:t>Rask</a:t>
            </a:r>
            <a:endParaRPr lang="pt-BR" b="1" dirty="0"/>
          </a:p>
          <a:p>
            <a:pPr algn="r"/>
            <a:r>
              <a:rPr lang="pt-BR" b="1" dirty="0"/>
              <a:t>1694– Hudson Carneiro Bessa</a:t>
            </a:r>
            <a:endParaRPr lang="pt-BR" b="1" dirty="0"/>
          </a:p>
          <a:p>
            <a:pPr algn="r"/>
            <a:r>
              <a:rPr lang="pt-BR" dirty="0"/>
              <a:t>Estagiários</a:t>
            </a:r>
            <a:endParaRPr lang="pt-BR" dirty="0"/>
          </a:p>
          <a:p>
            <a:pPr algn="r"/>
            <a:endParaRPr lang="pt-BR" dirty="0"/>
          </a:p>
          <a:p>
            <a:pPr algn="r"/>
            <a:r>
              <a:rPr lang="pt-BR" b="1" dirty="0"/>
              <a:t>Prof. Me. Guilherme Dias Vicentini</a:t>
            </a:r>
            <a:endParaRPr lang="pt-BR" b="1" dirty="0"/>
          </a:p>
          <a:p>
            <a:pPr algn="r"/>
            <a:r>
              <a:rPr lang="pt-BR" dirty="0"/>
              <a:t>Orientador</a:t>
            </a:r>
            <a:endParaRPr lang="pt-BR" dirty="0"/>
          </a:p>
        </p:txBody>
      </p:sp>
      <p:sp>
        <p:nvSpPr>
          <p:cNvPr id="10" name="object 3"/>
          <p:cNvSpPr txBox="1"/>
          <p:nvPr/>
        </p:nvSpPr>
        <p:spPr>
          <a:xfrm>
            <a:off x="3594100" y="6833870"/>
            <a:ext cx="2916555" cy="2743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 panose="020B0604030504040204"/>
                <a:cs typeface="Verdana" panose="020B0604030504040204"/>
              </a:rPr>
              <a:t>Cianorte-</a:t>
            </a:r>
            <a:r>
              <a:rPr sz="1800" dirty="0">
                <a:latin typeface="Verdana" panose="020B0604030504040204"/>
                <a:cs typeface="Verdana" panose="020B0604030504040204"/>
              </a:rPr>
              <a:t>PR,</a:t>
            </a:r>
            <a:r>
              <a:rPr sz="1800" spc="-30" dirty="0">
                <a:latin typeface="Verdana" panose="020B0604030504040204"/>
                <a:cs typeface="Verdana" panose="020B0604030504040204"/>
              </a:rPr>
              <a:t> </a:t>
            </a:r>
            <a:r>
              <a:rPr lang="pt-BR" altLang="" sz="1800" spc="-30" dirty="0">
                <a:latin typeface="Verdana" panose="020B0604030504040204"/>
                <a:cs typeface="Verdana" panose="020B0604030504040204"/>
              </a:rPr>
              <a:t>Junho</a:t>
            </a:r>
            <a:r>
              <a:rPr sz="1800" spc="-10" dirty="0">
                <a:latin typeface="Verdana" panose="020B0604030504040204"/>
                <a:cs typeface="Verdana" panose="020B0604030504040204"/>
              </a:rPr>
              <a:t>/202</a:t>
            </a:r>
            <a:r>
              <a:rPr lang="pt-BR" altLang="" sz="1800" spc="-10" dirty="0">
                <a:latin typeface="Verdana" panose="020B0604030504040204"/>
                <a:cs typeface="Verdana" panose="020B0604030504040204"/>
              </a:rPr>
              <a:t>5</a:t>
            </a:r>
            <a:r>
              <a:rPr sz="1800" spc="-10" dirty="0">
                <a:latin typeface="Verdana" panose="020B0604030504040204"/>
                <a:cs typeface="Verdana" panose="020B0604030504040204"/>
              </a:rPr>
              <a:t>.</a:t>
            </a:r>
            <a:endParaRPr sz="1800" dirty="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100" y="1395222"/>
            <a:ext cx="5613400" cy="2312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8905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Nome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Fantasia: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 MT"/>
                <a:cs typeface="Arial MT"/>
              </a:rPr>
              <a:t>Distribuidora</a:t>
            </a:r>
            <a:r>
              <a:rPr sz="2000" b="1" spc="-6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 MT"/>
                <a:cs typeface="Arial MT"/>
              </a:rPr>
              <a:t>Rodovia</a:t>
            </a:r>
            <a:r>
              <a:rPr sz="2000" b="1" spc="-45" dirty="0">
                <a:latin typeface="Arial MT"/>
                <a:cs typeface="Arial MT"/>
              </a:rPr>
              <a:t> </a:t>
            </a:r>
            <a:r>
              <a:rPr sz="2000" b="1" spc="-20" dirty="0">
                <a:latin typeface="Arial MT"/>
                <a:cs typeface="Arial MT"/>
              </a:rPr>
              <a:t>LTDA </a:t>
            </a:r>
            <a:r>
              <a:rPr sz="2000" spc="-20" dirty="0">
                <a:latin typeface="Arial MT"/>
                <a:cs typeface="Arial MT"/>
              </a:rPr>
              <a:t>Cidade-</a:t>
            </a:r>
            <a:r>
              <a:rPr sz="2000" dirty="0">
                <a:latin typeface="Arial MT"/>
                <a:cs typeface="Arial MT"/>
              </a:rPr>
              <a:t>UF: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Cianorte-</a:t>
            </a:r>
            <a:r>
              <a:rPr sz="2000" b="1" spc="-25" dirty="0">
                <a:latin typeface="Arial" panose="020B0604020202020204"/>
                <a:cs typeface="Arial" panose="020B0604020202020204"/>
              </a:rPr>
              <a:t>PR</a:t>
            </a:r>
            <a:endParaRPr sz="2000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Proprietário: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Lucas</a:t>
            </a:r>
            <a:r>
              <a:rPr sz="20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Volpato</a:t>
            </a:r>
            <a:r>
              <a:rPr sz="2000" b="1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Bariqueli</a:t>
            </a:r>
            <a:endParaRPr sz="2000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Arial MT"/>
                <a:cs typeface="Arial MT"/>
              </a:rPr>
              <a:t>Supervisor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Estagiário: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André</a:t>
            </a:r>
            <a:r>
              <a:rPr sz="20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Vitor</a:t>
            </a:r>
            <a:r>
              <a:rPr sz="20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Maiolli</a:t>
            </a:r>
            <a:endParaRPr sz="2000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Cargo: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Administrador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076"/>
            <a:ext cx="10079990" cy="1200785"/>
            <a:chOff x="0" y="0"/>
            <a:chExt cx="10079990" cy="1200785"/>
          </a:xfrm>
          <a:solidFill>
            <a:srgbClr val="0070C0"/>
          </a:solidFill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2300" y="361907"/>
            <a:ext cx="9117914" cy="41165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chemeClr val="bg1"/>
                </a:solidFill>
              </a:rPr>
              <a:t>DADOS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DA</a:t>
            </a:r>
            <a:r>
              <a:rPr spc="-114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EMPRESA:</a:t>
            </a:r>
            <a:endParaRPr spc="-10" dirty="0">
              <a:solidFill>
                <a:schemeClr val="bg1"/>
              </a:solidFill>
            </a:endParaRPr>
          </a:p>
        </p:txBody>
      </p:sp>
      <p:pic>
        <p:nvPicPr>
          <p:cNvPr id="7" name="object 3"/>
          <p:cNvPicPr/>
          <p:nvPr/>
        </p:nvPicPr>
        <p:blipFill>
          <a:blip r:embed="rId2" cstate="print"/>
          <a:srcRect t="21713" b="21343"/>
          <a:stretch>
            <a:fillRect/>
          </a:stretch>
        </p:blipFill>
        <p:spPr>
          <a:xfrm>
            <a:off x="4432300" y="3476625"/>
            <a:ext cx="4851400" cy="2657475"/>
          </a:xfrm>
          <a:prstGeom prst="rect">
            <a:avLst/>
          </a:prstGeom>
        </p:spPr>
      </p:pic>
      <p:sp>
        <p:nvSpPr>
          <p:cNvPr id="8" name="object 2"/>
          <p:cNvSpPr txBox="1"/>
          <p:nvPr/>
        </p:nvSpPr>
        <p:spPr>
          <a:xfrm>
            <a:off x="6767639" y="6296025"/>
            <a:ext cx="2770505" cy="21371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75"/>
              </a:spcBef>
            </a:pPr>
            <a:r>
              <a:rPr sz="1400" b="1" dirty="0">
                <a:latin typeface="Arial" panose="020B0604020202020204"/>
                <a:cs typeface="Arial" panose="020B0604020202020204"/>
              </a:rPr>
              <a:t>Figura</a:t>
            </a:r>
            <a:r>
              <a:rPr sz="14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latin typeface="Arial" panose="020B0604020202020204"/>
                <a:cs typeface="Arial" panose="020B0604020202020204"/>
              </a:rPr>
              <a:t>1</a:t>
            </a:r>
            <a:r>
              <a:rPr sz="14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Distribuidora</a:t>
            </a:r>
            <a:r>
              <a:rPr lang="pt-BR" sz="1400" dirty="0">
                <a:latin typeface="Arial MT"/>
                <a:cs typeface="Arial MT"/>
              </a:rPr>
              <a:t> Rodovia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129536" y="2115403"/>
            <a:ext cx="7823709" cy="2316381"/>
          </a:xfrm>
          <a:prstGeom prst="rect">
            <a:avLst/>
          </a:prstGeom>
        </p:spPr>
        <p:txBody>
          <a:bodyPr vert="horz" wrap="square" lIns="0" tIns="344465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9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O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Fleet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Plus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é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um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sistema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desenvolvido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para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 err="1">
                <a:latin typeface="Arial" panose="020B0604020202020204"/>
                <a:cs typeface="Arial" panose="020B0604020202020204"/>
              </a:rPr>
              <a:t>otimizar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lang="pt-BR" sz="2200" spc="-50" dirty="0">
                <a:latin typeface="Arial" panose="020B0604020202020204"/>
                <a:cs typeface="Arial" panose="020B0604020202020204"/>
              </a:rPr>
              <a:t>o gerenciamento de frotas menores de veículos, </a:t>
            </a:r>
            <a:r>
              <a:rPr sz="2200" dirty="0" err="1">
                <a:latin typeface="Arial" panose="020B0604020202020204"/>
                <a:cs typeface="Arial" panose="020B0604020202020204"/>
              </a:rPr>
              <a:t>controlando</a:t>
            </a:r>
            <a:r>
              <a:rPr sz="22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ordens</a:t>
            </a:r>
            <a:r>
              <a:rPr sz="22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de</a:t>
            </a:r>
            <a:r>
              <a:rPr sz="22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 err="1">
                <a:latin typeface="Arial" panose="020B0604020202020204"/>
                <a:cs typeface="Arial" panose="020B0604020202020204"/>
              </a:rPr>
              <a:t>entrega</a:t>
            </a:r>
            <a:r>
              <a:rPr lang="pt-BR" sz="2200" dirty="0">
                <a:latin typeface="Arial" panose="020B0604020202020204"/>
                <a:cs typeface="Arial" panose="020B0604020202020204"/>
              </a:rPr>
              <a:t> e abastecimentos</a:t>
            </a:r>
            <a:r>
              <a:rPr sz="2200" dirty="0">
                <a:latin typeface="Arial" panose="020B0604020202020204"/>
                <a:cs typeface="Arial" panose="020B0604020202020204"/>
              </a:rPr>
              <a:t>,</a:t>
            </a:r>
            <a:r>
              <a:rPr lang="pt-BR" sz="2200" dirty="0">
                <a:latin typeface="Arial" panose="020B0604020202020204"/>
                <a:cs typeface="Arial" panose="020B0604020202020204"/>
              </a:rPr>
              <a:t> a partir de cadastros de </a:t>
            </a:r>
            <a:r>
              <a:rPr sz="2200" dirty="0" err="1">
                <a:latin typeface="Arial" panose="020B0604020202020204"/>
                <a:cs typeface="Arial" panose="020B0604020202020204"/>
              </a:rPr>
              <a:t>motoristas</a:t>
            </a:r>
            <a:r>
              <a:rPr sz="2200" dirty="0">
                <a:latin typeface="Arial" panose="020B0604020202020204"/>
                <a:cs typeface="Arial" panose="020B0604020202020204"/>
              </a:rPr>
              <a:t>,</a:t>
            </a:r>
            <a:r>
              <a:rPr sz="22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veículos </a:t>
            </a:r>
            <a:r>
              <a:rPr sz="2200" dirty="0">
                <a:latin typeface="Arial" panose="020B0604020202020204"/>
                <a:cs typeface="Arial" panose="020B0604020202020204"/>
              </a:rPr>
              <a:t>e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lang="pt-BR" sz="2200" dirty="0">
                <a:latin typeface="Arial" panose="020B0604020202020204"/>
                <a:cs typeface="Arial" panose="020B0604020202020204"/>
              </a:rPr>
              <a:t>clientes</a:t>
            </a:r>
            <a:r>
              <a:rPr sz="2200" dirty="0">
                <a:latin typeface="Arial" panose="020B0604020202020204"/>
                <a:cs typeface="Arial" panose="020B0604020202020204"/>
              </a:rPr>
              <a:t>.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endParaRPr sz="22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0083165" cy="1356995"/>
            <a:chOff x="0" y="292735"/>
            <a:chExt cx="10083165" cy="1356995"/>
          </a:xfrm>
          <a:solidFill>
            <a:srgbClr val="0070C0"/>
          </a:solidFill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301625"/>
              <a:ext cx="10082783" cy="1348105"/>
            </a:xfrm>
            <a:prstGeom prst="rect">
              <a:avLst/>
            </a:prstGeom>
            <a:grpFill/>
          </p:spPr>
        </p:pic>
        <p:sp>
          <p:nvSpPr>
            <p:cNvPr id="5" name="object 5"/>
            <p:cNvSpPr/>
            <p:nvPr/>
          </p:nvSpPr>
          <p:spPr>
            <a:xfrm>
              <a:off x="0" y="292735"/>
              <a:ext cx="10083165" cy="1280160"/>
            </a:xfrm>
            <a:custGeom>
              <a:avLst/>
              <a:gdLst/>
              <a:ahLst/>
              <a:cxnLst/>
              <a:rect l="l" t="t" r="r" b="b"/>
              <a:pathLst>
                <a:path w="10083165" h="1280160">
                  <a:moveTo>
                    <a:pt x="0" y="1280160"/>
                  </a:moveTo>
                  <a:lnTo>
                    <a:pt x="10082783" y="1280160"/>
                  </a:lnTo>
                  <a:lnTo>
                    <a:pt x="10082783" y="0"/>
                  </a:lnTo>
                  <a:lnTo>
                    <a:pt x="0" y="0"/>
                  </a:lnTo>
                  <a:lnTo>
                    <a:pt x="0" y="128016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98500" y="429577"/>
            <a:ext cx="2270760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chemeClr val="bg1"/>
                </a:solidFill>
              </a:rPr>
              <a:t>OBJETIVOS: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/>
          <p:cNvGrpSpPr/>
          <p:nvPr/>
        </p:nvGrpSpPr>
        <p:grpSpPr>
          <a:xfrm>
            <a:off x="0" y="-6619"/>
            <a:ext cx="10079990" cy="1200404"/>
            <a:chOff x="0" y="0"/>
            <a:chExt cx="10079990" cy="1200404"/>
          </a:xfrm>
          <a:solidFill>
            <a:srgbClr val="0070C0"/>
          </a:solidFill>
        </p:grpSpPr>
        <p:pic>
          <p:nvPicPr>
            <p:cNvPr id="8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9" name="object 5"/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413890" y="2028825"/>
            <a:ext cx="7252209" cy="3012556"/>
          </a:xfrm>
          <a:prstGeom prst="rect">
            <a:avLst/>
          </a:prstGeom>
        </p:spPr>
        <p:txBody>
          <a:bodyPr vert="horz" wrap="square" lIns="0" tIns="530987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Com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relatórios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detalhados,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sistema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oferece </a:t>
            </a:r>
            <a:r>
              <a:rPr sz="2200" dirty="0">
                <a:latin typeface="Arial" panose="020B0604020202020204"/>
                <a:cs typeface="Arial" panose="020B0604020202020204"/>
              </a:rPr>
              <a:t>informações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 err="1">
                <a:latin typeface="Arial" panose="020B0604020202020204"/>
                <a:cs typeface="Arial" panose="020B0604020202020204"/>
              </a:rPr>
              <a:t>essenciais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 err="1">
                <a:latin typeface="Arial" panose="020B0604020202020204"/>
                <a:cs typeface="Arial" panose="020B0604020202020204"/>
              </a:rPr>
              <a:t>sobre</a:t>
            </a:r>
            <a:r>
              <a:rPr lang="pt-BR" sz="2200" dirty="0">
                <a:latin typeface="Arial" panose="020B0604020202020204"/>
                <a:cs typeface="Arial" panose="020B0604020202020204"/>
              </a:rPr>
              <a:t> os registros relacionados a frota de veículos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, </a:t>
            </a:r>
            <a:r>
              <a:rPr sz="2200" dirty="0" err="1">
                <a:latin typeface="Arial" panose="020B0604020202020204"/>
                <a:cs typeface="Arial" panose="020B0604020202020204"/>
              </a:rPr>
              <a:t>permitindo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um</a:t>
            </a:r>
            <a:r>
              <a:rPr lang="pt-BR" sz="2200" dirty="0">
                <a:latin typeface="Arial" panose="020B0604020202020204"/>
                <a:cs typeface="Arial" panose="020B0604020202020204"/>
              </a:rPr>
              <a:t> gerenciamento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mais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eficiente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e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decisões </a:t>
            </a:r>
            <a:r>
              <a:rPr sz="2200" dirty="0">
                <a:latin typeface="Arial" panose="020B0604020202020204"/>
                <a:cs typeface="Arial" panose="020B0604020202020204"/>
              </a:rPr>
              <a:t>rápidas,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baseadas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em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dados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 err="1">
                <a:latin typeface="Arial" panose="020B0604020202020204"/>
                <a:cs typeface="Arial" panose="020B0604020202020204"/>
              </a:rPr>
              <a:t>atualizados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.</a:t>
            </a:r>
            <a:r>
              <a:rPr lang="pt-BR" sz="2200" spc="-10" dirty="0">
                <a:latin typeface="Arial" panose="020B0604020202020204"/>
                <a:cs typeface="Arial" panose="020B0604020202020204"/>
              </a:rPr>
              <a:t> Deste modo, descartando a utilização de planilhas manuais.</a:t>
            </a:r>
            <a:endParaRPr sz="2200" spc="-1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8164" y="194818"/>
            <a:ext cx="9117914" cy="642484"/>
          </a:xfrm>
          <a:prstGeom prst="rect">
            <a:avLst/>
          </a:prstGeom>
        </p:spPr>
        <p:txBody>
          <a:bodyPr vert="horz" wrap="square" lIns="0" tIns="240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>
                <a:solidFill>
                  <a:schemeClr val="bg1"/>
                </a:solidFill>
              </a:rPr>
              <a:t>JUSTIFICATIVA:</a:t>
            </a:r>
            <a:endParaRPr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/>
          <p:cNvGrpSpPr/>
          <p:nvPr/>
        </p:nvGrpSpPr>
        <p:grpSpPr>
          <a:xfrm>
            <a:off x="0" y="-6619"/>
            <a:ext cx="10079990" cy="1200404"/>
            <a:chOff x="0" y="0"/>
            <a:chExt cx="10079990" cy="1200404"/>
          </a:xfrm>
          <a:solidFill>
            <a:srgbClr val="0070C0"/>
          </a:solidFill>
        </p:grpSpPr>
        <p:pic>
          <p:nvPicPr>
            <p:cNvPr id="8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9" name="object 5"/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511141" y="2009145"/>
            <a:ext cx="7057708" cy="354456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360"/>
              </a:spcBef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Linguagem</a:t>
            </a:r>
            <a:r>
              <a:rPr sz="22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2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Programação:</a:t>
            </a:r>
            <a:r>
              <a:rPr sz="22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r>
              <a:rPr lang="pt-BR"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200" b="1" spc="-10" dirty="0" err="1">
                <a:latin typeface="Arial" panose="020B0604020202020204" pitchFamily="34" charset="0"/>
                <a:cs typeface="Arial" panose="020B0604020202020204" pitchFamily="34" charset="0"/>
              </a:rPr>
              <a:t>cript</a:t>
            </a:r>
            <a:endParaRPr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5760">
              <a:lnSpc>
                <a:spcPct val="100000"/>
              </a:lnSpc>
              <a:spcBef>
                <a:spcPts val="265"/>
              </a:spcBef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Framework:</a:t>
            </a:r>
            <a:r>
              <a:rPr sz="22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Express</a:t>
            </a:r>
            <a:r>
              <a:rPr lang="pt-BR"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pt-BR" sz="2200" b="1" spc="-10" dirty="0" err="1">
                <a:latin typeface="Arial" panose="020B0604020202020204" pitchFamily="34" charset="0"/>
                <a:cs typeface="Arial" panose="020B0604020202020204" pitchFamily="34" charset="0"/>
              </a:rPr>
              <a:t>Bootstrap</a:t>
            </a:r>
            <a:r>
              <a:rPr lang="pt-BR"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 5</a:t>
            </a:r>
            <a:endParaRPr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980">
              <a:lnSpc>
                <a:spcPct val="100000"/>
              </a:lnSpc>
              <a:spcBef>
                <a:spcPts val="1705"/>
              </a:spcBef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Banco</a:t>
            </a:r>
            <a:r>
              <a:rPr sz="220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2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Dados:</a:t>
            </a:r>
            <a:r>
              <a:rPr sz="22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endParaRPr lang="pt-BR"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980">
              <a:lnSpc>
                <a:spcPct val="100000"/>
              </a:lnSpc>
              <a:spcBef>
                <a:spcPts val="1705"/>
              </a:spcBef>
            </a:pP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Biblioteca</a:t>
            </a:r>
            <a:r>
              <a:rPr sz="2200" spc="-7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FrontEnd:</a:t>
            </a:r>
            <a:r>
              <a:rPr sz="2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endParaRPr lang="pt-BR"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980">
              <a:lnSpc>
                <a:spcPct val="100000"/>
              </a:lnSpc>
              <a:spcBef>
                <a:spcPts val="1705"/>
              </a:spcBef>
            </a:pP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Ambiente</a:t>
            </a:r>
            <a:r>
              <a:rPr sz="22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2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execução</a:t>
            </a:r>
            <a:r>
              <a:rPr sz="22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200" spc="-5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ack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22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Node.js</a:t>
            </a:r>
            <a:endParaRPr lang="pt-BR"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980">
              <a:lnSpc>
                <a:spcPct val="100000"/>
              </a:lnSpc>
              <a:spcBef>
                <a:spcPts val="1705"/>
              </a:spcBef>
            </a:pPr>
            <a:r>
              <a:rPr lang="pt-BR" sz="2200" spc="-10" dirty="0">
                <a:latin typeface="Arial" panose="020B0604020202020204" pitchFamily="34" charset="0"/>
                <a:cs typeface="Arial" panose="020B0604020202020204" pitchFamily="34" charset="0"/>
              </a:rPr>
              <a:t>Linguagem de Marcação de Hipertexto: </a:t>
            </a:r>
            <a:r>
              <a:rPr lang="pt-BR"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HTML | JSX</a:t>
            </a:r>
            <a:endParaRPr lang="pt-BR"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980">
              <a:lnSpc>
                <a:spcPct val="100000"/>
              </a:lnSpc>
              <a:spcBef>
                <a:spcPts val="1705"/>
              </a:spcBef>
            </a:pPr>
            <a:r>
              <a:rPr lang="pt-BR" sz="2200" spc="-10" dirty="0">
                <a:latin typeface="Arial" panose="020B0604020202020204" pitchFamily="34" charset="0"/>
                <a:cs typeface="Arial" panose="020B0604020202020204" pitchFamily="34" charset="0"/>
              </a:rPr>
              <a:t>Linguagem de Formatação de Conteúdo</a:t>
            </a:r>
            <a:r>
              <a:rPr lang="pt-BR" sz="2200" b="1" spc="-10" dirty="0">
                <a:latin typeface="Arial" panose="020B0604020202020204" pitchFamily="34" charset="0"/>
                <a:cs typeface="Arial" panose="020B0604020202020204" pitchFamily="34" charset="0"/>
              </a:rPr>
              <a:t>: CSS</a:t>
            </a:r>
            <a:endParaRPr lang="pt-BR" sz="22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8164" y="194818"/>
            <a:ext cx="9117914" cy="562462"/>
          </a:xfrm>
          <a:prstGeom prst="rect">
            <a:avLst/>
          </a:prstGeom>
        </p:spPr>
        <p:txBody>
          <a:bodyPr vert="horz" wrap="square" lIns="0" tIns="160782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chemeClr val="bg1"/>
                </a:solidFill>
                <a:cs typeface="+mj-cs"/>
              </a:rPr>
              <a:t>RECURSOS TECNOLÓGICOS:</a:t>
            </a:r>
            <a:endParaRPr dirty="0">
              <a:solidFill>
                <a:schemeClr val="bg1"/>
              </a:solidFill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3"/>
          <p:cNvGrpSpPr/>
          <p:nvPr/>
        </p:nvGrpSpPr>
        <p:grpSpPr>
          <a:xfrm>
            <a:off x="0" y="-6619"/>
            <a:ext cx="10079990" cy="1200404"/>
            <a:chOff x="0" y="0"/>
            <a:chExt cx="10079990" cy="1200404"/>
          </a:xfrm>
          <a:solidFill>
            <a:srgbClr val="0070C0"/>
          </a:solidFill>
        </p:grpSpPr>
        <p:pic>
          <p:nvPicPr>
            <p:cNvPr id="7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8" name="object 5"/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8164" y="194818"/>
            <a:ext cx="9117914" cy="562462"/>
          </a:xfrm>
          <a:prstGeom prst="rect">
            <a:avLst/>
          </a:prstGeom>
        </p:spPr>
        <p:txBody>
          <a:bodyPr vert="horz" wrap="square" lIns="0" tIns="160782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90"/>
              </a:spcBef>
            </a:pPr>
            <a:r>
              <a:rPr lang="pt-BR" dirty="0">
                <a:solidFill>
                  <a:schemeClr val="bg1"/>
                </a:solidFill>
                <a:cs typeface="+mj-cs"/>
              </a:rPr>
              <a:t>OUTROS SOFTWARES</a:t>
            </a:r>
            <a:r>
              <a:rPr dirty="0">
                <a:solidFill>
                  <a:schemeClr val="bg1"/>
                </a:solidFill>
                <a:cs typeface="+mj-cs"/>
              </a:rPr>
              <a:t>:</a:t>
            </a:r>
            <a:endParaRPr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9" name="object 3"/>
          <p:cNvSpPr txBox="1">
            <a:spLocks noGrp="1"/>
          </p:cNvSpPr>
          <p:nvPr>
            <p:ph type="body" idx="1"/>
          </p:nvPr>
        </p:nvSpPr>
        <p:spPr>
          <a:xfrm>
            <a:off x="1832292" y="2536148"/>
            <a:ext cx="6415405" cy="12452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l">
              <a:lnSpc>
                <a:spcPts val="3300"/>
              </a:lnSpc>
              <a:spcBef>
                <a:spcPts val="3075"/>
              </a:spcBef>
              <a:tabLst>
                <a:tab pos="2306320" algn="l"/>
              </a:tabLst>
            </a:pPr>
            <a:r>
              <a:rPr sz="2200" dirty="0">
                <a:latin typeface="Arial MT"/>
                <a:cs typeface="Arial MT"/>
              </a:rPr>
              <a:t>Teste</a:t>
            </a:r>
            <a:r>
              <a:rPr lang="pt-BR" sz="2200" dirty="0">
                <a:latin typeface="Arial MT"/>
                <a:cs typeface="Arial MT"/>
              </a:rPr>
              <a:t>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</a:t>
            </a:r>
            <a:r>
              <a:rPr sz="2200" spc="-20" dirty="0">
                <a:latin typeface="Arial MT"/>
                <a:cs typeface="Arial MT"/>
              </a:rPr>
              <a:t> Api:</a:t>
            </a:r>
            <a:r>
              <a:rPr lang="pt-BR" sz="2200" spc="-20" dirty="0"/>
              <a:t> </a:t>
            </a:r>
            <a:r>
              <a:rPr sz="2200" b="1" spc="-10" dirty="0">
                <a:latin typeface="Arial MT"/>
                <a:cs typeface="Arial MT"/>
              </a:rPr>
              <a:t>Postman</a:t>
            </a:r>
            <a:endParaRPr sz="2200" b="1" dirty="0">
              <a:latin typeface="Arial MT"/>
              <a:cs typeface="Arial MT"/>
            </a:endParaRPr>
          </a:p>
          <a:p>
            <a:pPr marL="12700" algn="l">
              <a:lnSpc>
                <a:spcPts val="3230"/>
              </a:lnSpc>
              <a:tabLst>
                <a:tab pos="4756785" algn="l"/>
              </a:tabLst>
            </a:pPr>
            <a:r>
              <a:rPr sz="2200" dirty="0" err="1">
                <a:latin typeface="Arial MT"/>
                <a:cs typeface="Arial MT"/>
              </a:rPr>
              <a:t>Servidor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banco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dados:</a:t>
            </a:r>
            <a:r>
              <a:rPr lang="pt-BR" sz="2200" spc="-10" dirty="0"/>
              <a:t> </a:t>
            </a:r>
            <a:r>
              <a:rPr sz="2200" b="1" spc="-10" dirty="0">
                <a:latin typeface="Arial MT"/>
                <a:cs typeface="Arial MT"/>
              </a:rPr>
              <a:t>Apache</a:t>
            </a:r>
            <a:endParaRPr sz="2200" b="1" dirty="0">
              <a:latin typeface="Arial MT"/>
              <a:cs typeface="Arial MT"/>
            </a:endParaRPr>
          </a:p>
          <a:p>
            <a:pPr marL="12700" marR="5080" algn="l">
              <a:lnSpc>
                <a:spcPts val="3220"/>
              </a:lnSpc>
              <a:spcBef>
                <a:spcPts val="150"/>
              </a:spcBef>
            </a:pPr>
            <a:r>
              <a:rPr sz="2200" dirty="0">
                <a:latin typeface="Arial MT"/>
                <a:cs typeface="Arial MT"/>
              </a:rPr>
              <a:t>Ambiente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 err="1">
                <a:latin typeface="Arial MT"/>
                <a:cs typeface="Arial MT"/>
              </a:rPr>
              <a:t>desenvolvimento</a:t>
            </a:r>
            <a:r>
              <a:rPr sz="2200" dirty="0">
                <a:latin typeface="Arial MT"/>
                <a:cs typeface="Arial MT"/>
              </a:rPr>
              <a:t>: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b="1" dirty="0">
                <a:latin typeface="Arial MT"/>
                <a:cs typeface="Arial MT"/>
              </a:rPr>
              <a:t>Visual</a:t>
            </a:r>
            <a:r>
              <a:rPr sz="2200" b="1" spc="-80" dirty="0">
                <a:latin typeface="Arial MT"/>
                <a:cs typeface="Arial MT"/>
              </a:rPr>
              <a:t> </a:t>
            </a:r>
            <a:r>
              <a:rPr sz="2200" b="1" spc="-10" dirty="0">
                <a:latin typeface="Arial MT"/>
                <a:cs typeface="Arial MT"/>
              </a:rPr>
              <a:t>Studio </a:t>
            </a:r>
            <a:r>
              <a:rPr sz="2200" b="1" spc="-20" dirty="0">
                <a:latin typeface="Arial MT"/>
                <a:cs typeface="Arial MT"/>
              </a:rPr>
              <a:t>code</a:t>
            </a:r>
            <a:endParaRPr sz="2200" b="1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/>
          <p:cNvGrpSpPr/>
          <p:nvPr/>
        </p:nvGrpSpPr>
        <p:grpSpPr>
          <a:xfrm>
            <a:off x="0" y="-6619"/>
            <a:ext cx="10079990" cy="1200404"/>
            <a:chOff x="0" y="0"/>
            <a:chExt cx="10079990" cy="1200404"/>
          </a:xfrm>
          <a:solidFill>
            <a:srgbClr val="0070C0"/>
          </a:solidFill>
        </p:grpSpPr>
        <p:pic>
          <p:nvPicPr>
            <p:cNvPr id="8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9" name="object 5"/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58164" y="194818"/>
            <a:ext cx="9117914" cy="617861"/>
          </a:xfrm>
          <a:prstGeom prst="rect">
            <a:avLst/>
          </a:prstGeom>
        </p:spPr>
        <p:txBody>
          <a:bodyPr vert="horz" wrap="square" lIns="0" tIns="215646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chemeClr val="bg1"/>
                </a:solidFill>
              </a:rPr>
              <a:t>DIAGRAMA</a:t>
            </a:r>
            <a:r>
              <a:rPr spc="-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DE</a:t>
            </a:r>
            <a:r>
              <a:rPr spc="-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CASO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DE</a:t>
            </a:r>
            <a:r>
              <a:rPr spc="-9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USO:</a:t>
            </a:r>
            <a:endParaRPr spc="-20" dirty="0">
              <a:solidFill>
                <a:schemeClr val="bg1"/>
              </a:solidFill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1437" y="1365002"/>
            <a:ext cx="4860925" cy="54819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/>
          <p:cNvGrpSpPr/>
          <p:nvPr/>
        </p:nvGrpSpPr>
        <p:grpSpPr>
          <a:xfrm>
            <a:off x="0" y="-6619"/>
            <a:ext cx="10079990" cy="1200404"/>
            <a:chOff x="0" y="0"/>
            <a:chExt cx="10079990" cy="1200404"/>
          </a:xfrm>
          <a:solidFill>
            <a:srgbClr val="0070C0"/>
          </a:solidFill>
        </p:grpSpPr>
        <p:pic>
          <p:nvPicPr>
            <p:cNvPr id="8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9" name="object 5"/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58164" y="194818"/>
            <a:ext cx="9117914" cy="608627"/>
          </a:xfrm>
          <a:prstGeom prst="rect">
            <a:avLst/>
          </a:prstGeom>
        </p:spPr>
        <p:txBody>
          <a:bodyPr vert="horz" wrap="square" lIns="0" tIns="206501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chemeClr val="bg1"/>
                </a:solidFill>
              </a:rPr>
              <a:t>LAYOUT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DO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SISTEMA:</a:t>
            </a:r>
            <a:endParaRPr spc="-10" dirty="0">
              <a:solidFill>
                <a:schemeClr val="bg1"/>
              </a:solidFill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815" y="1790700"/>
            <a:ext cx="8214359" cy="3981450"/>
          </a:xfrm>
          <a:prstGeom prst="rect">
            <a:avLst/>
          </a:prstGeom>
        </p:spPr>
      </p:pic>
      <p:sp>
        <p:nvSpPr>
          <p:cNvPr id="12" name="object 2"/>
          <p:cNvSpPr txBox="1"/>
          <p:nvPr/>
        </p:nvSpPr>
        <p:spPr>
          <a:xfrm>
            <a:off x="7251700" y="5838825"/>
            <a:ext cx="1981200" cy="21371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75"/>
              </a:spcBef>
            </a:pPr>
            <a:r>
              <a:rPr sz="1400" b="1" dirty="0" err="1">
                <a:latin typeface="Arial" panose="020B0604020202020204"/>
                <a:cs typeface="Arial" panose="020B0604020202020204"/>
              </a:rPr>
              <a:t>Figura</a:t>
            </a:r>
            <a:r>
              <a:rPr sz="14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lang="pt-BR" sz="1400" b="1" spc="-25" dirty="0">
                <a:latin typeface="Arial" panose="020B0604020202020204"/>
                <a:cs typeface="Arial" panose="020B0604020202020204"/>
              </a:rPr>
              <a:t>2</a:t>
            </a:r>
            <a:r>
              <a:rPr sz="14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lang="pt-BR" sz="1400" spc="-20" dirty="0" err="1">
                <a:latin typeface="Arial MT"/>
                <a:cs typeface="Arial MT"/>
              </a:rPr>
              <a:t>Main</a:t>
            </a:r>
            <a:r>
              <a:rPr lang="pt-BR" sz="1400" spc="-20" dirty="0">
                <a:latin typeface="Arial MT"/>
                <a:cs typeface="Arial MT"/>
              </a:rPr>
              <a:t> </a:t>
            </a:r>
            <a:r>
              <a:rPr lang="pt-BR" sz="1400" spc="-20" dirty="0" err="1">
                <a:latin typeface="Arial MT"/>
                <a:cs typeface="Arial MT"/>
              </a:rPr>
              <a:t>Section</a:t>
            </a:r>
            <a:endParaRPr lang="pt-BR"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391525" y="6901815"/>
            <a:ext cx="1247470" cy="49974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260" y="1044929"/>
            <a:ext cx="8209280" cy="4009389"/>
          </a:xfrm>
          <a:prstGeom prst="rect">
            <a:avLst/>
          </a:prstGeom>
        </p:spPr>
      </p:pic>
      <p:sp>
        <p:nvSpPr>
          <p:cNvPr id="7" name="object 2"/>
          <p:cNvSpPr txBox="1"/>
          <p:nvPr/>
        </p:nvSpPr>
        <p:spPr>
          <a:xfrm>
            <a:off x="7400925" y="5054318"/>
            <a:ext cx="1981200" cy="21371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75"/>
              </a:spcBef>
            </a:pPr>
            <a:r>
              <a:rPr sz="1400" b="1" dirty="0" err="1">
                <a:latin typeface="Arial" panose="020B0604020202020204"/>
                <a:cs typeface="Arial" panose="020B0604020202020204"/>
              </a:rPr>
              <a:t>Figura</a:t>
            </a:r>
            <a:r>
              <a:rPr sz="14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lang="pt-BR" sz="1400" b="1" spc="-25" dirty="0">
                <a:latin typeface="Arial" panose="020B0604020202020204"/>
                <a:cs typeface="Arial" panose="020B0604020202020204"/>
              </a:rPr>
              <a:t>2</a:t>
            </a:r>
            <a:r>
              <a:rPr sz="14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lang="pt-BR" sz="1400" spc="-20" dirty="0">
                <a:latin typeface="Arial MT"/>
                <a:cs typeface="Arial MT"/>
              </a:rPr>
              <a:t>Dashboard</a:t>
            </a:r>
            <a:endParaRPr lang="pt-BR"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3"/>
          <p:cNvGrpSpPr/>
          <p:nvPr/>
        </p:nvGrpSpPr>
        <p:grpSpPr>
          <a:xfrm>
            <a:off x="-954" y="3425825"/>
            <a:ext cx="10079990" cy="1200404"/>
            <a:chOff x="0" y="0"/>
            <a:chExt cx="10079990" cy="1200404"/>
          </a:xfrm>
          <a:solidFill>
            <a:srgbClr val="0070C0"/>
          </a:solidFill>
        </p:grpSpPr>
        <p:pic>
          <p:nvPicPr>
            <p:cNvPr id="10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0079990" cy="1200404"/>
            </a:xfrm>
            <a:prstGeom prst="rect">
              <a:avLst/>
            </a:prstGeom>
            <a:grpFill/>
          </p:spPr>
        </p:pic>
        <p:sp>
          <p:nvSpPr>
            <p:cNvPr id="11" name="object 5"/>
            <p:cNvSpPr/>
            <p:nvPr/>
          </p:nvSpPr>
          <p:spPr>
            <a:xfrm>
              <a:off x="0" y="0"/>
              <a:ext cx="10079990" cy="1123315"/>
            </a:xfrm>
            <a:custGeom>
              <a:avLst/>
              <a:gdLst/>
              <a:ahLst/>
              <a:cxnLst/>
              <a:rect l="l" t="t" r="r" b="b"/>
              <a:pathLst>
                <a:path w="10079990" h="1123315">
                  <a:moveTo>
                    <a:pt x="0" y="1122934"/>
                  </a:moveTo>
                  <a:lnTo>
                    <a:pt x="10079990" y="1122934"/>
                  </a:lnTo>
                  <a:lnTo>
                    <a:pt x="10079990" y="0"/>
                  </a:lnTo>
                  <a:lnTo>
                    <a:pt x="0" y="0"/>
                  </a:lnTo>
                  <a:lnTo>
                    <a:pt x="0" y="112293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" name="object 2"/>
          <p:cNvSpPr txBox="1"/>
          <p:nvPr/>
        </p:nvSpPr>
        <p:spPr>
          <a:xfrm>
            <a:off x="912621" y="5619242"/>
            <a:ext cx="3911600" cy="900246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2700">
              <a:spcBef>
                <a:spcPts val="1295"/>
              </a:spcBef>
            </a:pPr>
            <a:r>
              <a:rPr lang="pt-BR" b="1" dirty="0">
                <a:latin typeface="Arial" panose="020B0604020202020204"/>
                <a:cs typeface="Arial" panose="020B0604020202020204"/>
              </a:rPr>
              <a:t>Maria</a:t>
            </a:r>
            <a:r>
              <a:rPr lang="pt-BR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lang="pt-BR" b="1" dirty="0">
                <a:latin typeface="Arial" panose="020B0604020202020204"/>
                <a:cs typeface="Arial" panose="020B0604020202020204"/>
              </a:rPr>
              <a:t>Eduarda</a:t>
            </a:r>
            <a:r>
              <a:rPr lang="pt-BR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lang="pt-BR" b="1" dirty="0">
                <a:latin typeface="Arial" panose="020B0604020202020204"/>
                <a:cs typeface="Arial" panose="020B0604020202020204"/>
              </a:rPr>
              <a:t>Humberto </a:t>
            </a:r>
            <a:r>
              <a:rPr lang="pt-BR" b="1" dirty="0" err="1">
                <a:latin typeface="Arial" panose="020B0604020202020204"/>
                <a:cs typeface="Arial" panose="020B0604020202020204"/>
              </a:rPr>
              <a:t>Rask</a:t>
            </a:r>
            <a:endParaRPr lang="pt-BR" b="1" spc="-20" dirty="0">
              <a:latin typeface="Arial" panose="020B0604020202020204"/>
              <a:cs typeface="Arial" panose="020B0604020202020204"/>
            </a:endParaRPr>
          </a:p>
          <a:p>
            <a:pPr marL="12700">
              <a:spcBef>
                <a:spcPts val="1295"/>
              </a:spcBef>
            </a:pPr>
            <a:r>
              <a:rPr lang="pt-BR" spc="-20" dirty="0">
                <a:latin typeface="Arial" panose="020B0604020202020204"/>
                <a:cs typeface="Arial" panose="020B0604020202020204"/>
              </a:rPr>
              <a:t>mariaeduardah0306@gmail.com</a:t>
            </a:r>
            <a:endParaRPr lang="pt-BR" spc="-2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9059" y="1469136"/>
            <a:ext cx="2259965" cy="90220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286126" y="3594861"/>
            <a:ext cx="55098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O</a:t>
            </a:r>
            <a:r>
              <a:rPr sz="4800" spc="-2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B</a:t>
            </a:r>
            <a:r>
              <a:rPr sz="4800" spc="-4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R</a:t>
            </a:r>
            <a:r>
              <a:rPr sz="4800" spc="-45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I</a:t>
            </a:r>
            <a:r>
              <a:rPr sz="4800" spc="-45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G</a:t>
            </a:r>
            <a:r>
              <a:rPr sz="4800" spc="-65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A</a:t>
            </a:r>
            <a:r>
              <a:rPr sz="4800" spc="-2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D</a:t>
            </a:r>
            <a:r>
              <a:rPr sz="4800" spc="-4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480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O</a:t>
            </a:r>
            <a:r>
              <a:rPr sz="4800" spc="-4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4800" spc="-50" dirty="0">
                <a:solidFill>
                  <a:schemeClr val="bg1"/>
                </a:solidFill>
                <a:latin typeface="Arial Black" panose="020B0A04020102020204"/>
                <a:cs typeface="Arial Black" panose="020B0A04020102020204"/>
              </a:rPr>
              <a:t>!</a:t>
            </a:r>
            <a:endParaRPr sz="4800" dirty="0">
              <a:solidFill>
                <a:schemeClr val="bg1"/>
              </a:solidFill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2" name="object 2"/>
          <p:cNvSpPr txBox="1"/>
          <p:nvPr/>
        </p:nvSpPr>
        <p:spPr>
          <a:xfrm>
            <a:off x="5840221" y="5619242"/>
            <a:ext cx="3911600" cy="931024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lang="pt-BR" b="1" dirty="0">
                <a:latin typeface="Arial" panose="020B0604020202020204"/>
                <a:cs typeface="Arial" panose="020B0604020202020204"/>
              </a:rPr>
              <a:t>Hudson</a:t>
            </a:r>
            <a:r>
              <a:rPr lang="pt-BR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lang="pt-BR" b="1" dirty="0">
                <a:latin typeface="Arial" panose="020B0604020202020204"/>
                <a:cs typeface="Arial" panose="020B0604020202020204"/>
              </a:rPr>
              <a:t>Carneiro</a:t>
            </a:r>
            <a:r>
              <a:rPr lang="pt-BR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lang="pt-BR" b="1" spc="-20" dirty="0">
                <a:latin typeface="Arial" panose="020B0604020202020204"/>
                <a:cs typeface="Arial" panose="020B0604020202020204"/>
              </a:rPr>
              <a:t>Bessa</a:t>
            </a:r>
            <a:endParaRPr lang="pt-BR" b="1" spc="-20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lang="pt-BR" spc="-20" dirty="0">
                <a:latin typeface="Arial" panose="020B0604020202020204"/>
                <a:cs typeface="Arial" panose="020B0604020202020204"/>
              </a:rPr>
              <a:t>hudsoncarneiro2004@gmail.com</a:t>
            </a:r>
            <a:endParaRPr lang="pt-BR" sz="20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1529</Words>
  <Application>WPS Presentation</Application>
  <PresentationFormat>Personalizar</PresentationFormat>
  <Paragraphs>63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Verdana</vt:lpstr>
      <vt:lpstr>Arial MT</vt:lpstr>
      <vt:lpstr>Arial</vt:lpstr>
      <vt:lpstr>Arial Black</vt:lpstr>
      <vt:lpstr>Microsoft YaHei</vt:lpstr>
      <vt:lpstr>Arial Unicode MS</vt:lpstr>
      <vt:lpstr>Calibri</vt:lpstr>
      <vt:lpstr>Office Theme</vt:lpstr>
      <vt:lpstr>Análise e Desenvolvimento de Sistemas (ADS)</vt:lpstr>
      <vt:lpstr>DADOS DA EMPRESA:</vt:lpstr>
      <vt:lpstr>OBJETIVOS:</vt:lpstr>
      <vt:lpstr>JUSTIFICATIVA:</vt:lpstr>
      <vt:lpstr>RECURSOS TECNOLÓGICOS:</vt:lpstr>
      <vt:lpstr>OUTROS SOFTWARES:</vt:lpstr>
      <vt:lpstr>DIAGRAMA DE CASO DE USO:</vt:lpstr>
      <vt:lpstr>LAYOUT DO SISTEMA: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SPACE1</dc:creator>
  <cp:lastModifiedBy>User</cp:lastModifiedBy>
  <cp:revision>4</cp:revision>
  <dcterms:created xsi:type="dcterms:W3CDTF">2024-12-11T13:48:00Z</dcterms:created>
  <dcterms:modified xsi:type="dcterms:W3CDTF">2025-06-25T20:10:01Z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2024-12-10T21:00:00Z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2024-12-10T21:00:00Z</vt:filetime>
  </property>
  <property fmtid="{D5CDD505-2E9C-101B-9397-08002B2CF9AE}" pid="5" name="Producer">
    <vt:lpwstr>www.ilovepdf.com</vt:lpwstr>
  </property>
  <property fmtid="{D5CDD505-2E9C-101B-9397-08002B2CF9AE}" pid="6" name="ICV">
    <vt:lpwstr>C59F06585AAF42829F7DDC143A38AC5B_12</vt:lpwstr>
  </property>
  <property fmtid="{D5CDD505-2E9C-101B-9397-08002B2CF9AE}" pid="7" name="KSOProductBuildVer">
    <vt:lpwstr>1046-12.2.0.21183</vt:lpwstr>
  </property>
</Properties>
</file>